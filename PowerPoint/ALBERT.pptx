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35" r:id="rId5"/>
    <p:sldId id="336" r:id="rId6"/>
    <p:sldId id="348" r:id="rId7"/>
    <p:sldId id="349" r:id="rId8"/>
    <p:sldId id="351" r:id="rId9"/>
    <p:sldId id="350" r:id="rId10"/>
    <p:sldId id="34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94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ben-Parra-Montenegro/Albert.git" TargetMode="External"/><Relationship Id="rId2" Type="http://schemas.openxmlformats.org/officeDocument/2006/relationships/hyperlink" Target="mailto:parramontenegro@oakland.edu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9336" y="914400"/>
            <a:ext cx="5312664" cy="4416553"/>
          </a:xfrm>
        </p:spPr>
        <p:txBody>
          <a:bodyPr>
            <a:normAutofit fontScale="90000"/>
          </a:bodyPr>
          <a:lstStyle/>
          <a:p>
            <a:r>
              <a:rPr lang="en-US" sz="5300" dirty="0"/>
              <a:t>A</a:t>
            </a:r>
            <a:r>
              <a:rPr lang="en-US" b="0" dirty="0"/>
              <a:t>gent</a:t>
            </a:r>
            <a:br>
              <a:rPr lang="en-US" dirty="0"/>
            </a:br>
            <a:r>
              <a:rPr lang="en-US" sz="5300" dirty="0"/>
              <a:t>l</a:t>
            </a:r>
            <a:r>
              <a:rPr lang="en-US" b="0" dirty="0"/>
              <a:t>earning through</a:t>
            </a:r>
            <a:br>
              <a:rPr lang="en-US" dirty="0"/>
            </a:br>
            <a:r>
              <a:rPr lang="en-US" sz="6000" dirty="0"/>
              <a:t>b</a:t>
            </a:r>
            <a:r>
              <a:rPr lang="en-US" b="0" dirty="0"/>
              <a:t>uilding</a:t>
            </a:r>
            <a:br>
              <a:rPr lang="en-US" dirty="0"/>
            </a:br>
            <a:r>
              <a:rPr lang="en-US" sz="5300" dirty="0"/>
              <a:t>e</a:t>
            </a:r>
            <a:r>
              <a:rPr lang="en-US" b="0" dirty="0"/>
              <a:t>mbedded</a:t>
            </a:r>
            <a:br>
              <a:rPr lang="en-US" dirty="0"/>
            </a:br>
            <a:r>
              <a:rPr lang="en-US" sz="5300" dirty="0"/>
              <a:t>r</a:t>
            </a:r>
            <a:r>
              <a:rPr lang="en-US" b="0" dirty="0"/>
              <a:t>ag</a:t>
            </a:r>
            <a:br>
              <a:rPr lang="en-US" dirty="0"/>
            </a:br>
            <a:r>
              <a:rPr lang="en-US" sz="5300" dirty="0"/>
              <a:t>t</a:t>
            </a:r>
            <a:r>
              <a:rPr lang="en-US" b="0" dirty="0"/>
              <a:t>ools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E8C9E2-68F3-6CF3-CB0F-8C9CA14FB84C}"/>
              </a:ext>
            </a:extLst>
          </p:cNvPr>
          <p:cNvSpPr txBox="1"/>
          <p:nvPr/>
        </p:nvSpPr>
        <p:spPr>
          <a:xfrm>
            <a:off x="6879336" y="5605272"/>
            <a:ext cx="5138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Ruben Parra Montenegro</a:t>
            </a:r>
          </a:p>
          <a:p>
            <a:endParaRPr lang="en-US" dirty="0"/>
          </a:p>
          <a:p>
            <a:r>
              <a:rPr lang="en-US" dirty="0"/>
              <a:t>CSI-5130 Final Project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Problem statement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r>
              <a:rPr lang="en-US" dirty="0"/>
              <a:t>I wanted to learn how AI agents work and are put together as they are fascinating tools.</a:t>
            </a:r>
          </a:p>
          <a:p>
            <a:r>
              <a:rPr lang="en-US" dirty="0"/>
              <a:t>Started with basic knowledge of </a:t>
            </a:r>
            <a:r>
              <a:rPr lang="en-US" dirty="0" err="1"/>
              <a:t>LangChain</a:t>
            </a:r>
            <a:r>
              <a:rPr lang="en-US" dirty="0"/>
              <a:t>, vector databases, embeddings, RAG, and tool calling</a:t>
            </a:r>
          </a:p>
          <a:p>
            <a:r>
              <a:rPr lang="en-US" dirty="0"/>
              <a:t>There is no better way to learn how they are put together than to one together yourself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48044-4C79-D7DC-7464-2E80D83F1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0B64E-3E92-2C68-E0D0-B3EF32BC1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Solution 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96AF2D-BB8C-930B-499D-B98710296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r>
              <a:rPr lang="en-US" dirty="0"/>
              <a:t>Conversational Memory</a:t>
            </a:r>
          </a:p>
          <a:p>
            <a:r>
              <a:rPr lang="en-US" dirty="0"/>
              <a:t>PDF processing (</a:t>
            </a:r>
            <a:r>
              <a:rPr lang="en-US" dirty="0" err="1"/>
              <a:t>Docling</a:t>
            </a:r>
            <a:r>
              <a:rPr lang="en-US" dirty="0"/>
              <a:t>)</a:t>
            </a:r>
          </a:p>
          <a:p>
            <a:r>
              <a:rPr lang="en-US" dirty="0"/>
              <a:t>Vector Storage (RAG)</a:t>
            </a:r>
          </a:p>
          <a:p>
            <a:r>
              <a:rPr lang="en-US" dirty="0"/>
              <a:t>Sandboxed File Management</a:t>
            </a:r>
          </a:p>
          <a:p>
            <a:r>
              <a:rPr lang="en-US" dirty="0"/>
              <a:t>Configuration Driven</a:t>
            </a:r>
          </a:p>
          <a:p>
            <a:r>
              <a:rPr lang="en-US" dirty="0"/>
              <a:t>Web Search and Scraping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1C1134-2D84-B7C0-4583-531D816F4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3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44E9-1C2D-74A3-648B-40CD9CAA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76D8-2EE2-5203-F7DA-34BD6A1A7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930AC8-8F69-E7DB-3394-79003A82FE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User Input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Lanchain</a:t>
            </a:r>
            <a:r>
              <a:rPr lang="en-US" dirty="0"/>
              <a:t> Agent (</a:t>
            </a:r>
            <a:r>
              <a:rPr lang="en-US" dirty="0" err="1"/>
              <a:t>Nemotron</a:t>
            </a:r>
            <a:r>
              <a:rPr lang="en-US" dirty="0"/>
              <a:t> Nano 9B via </a:t>
            </a:r>
            <a:r>
              <a:rPr lang="en-US" dirty="0" err="1"/>
              <a:t>OpenRouter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Tool Selection (based on system prompt and doc strings)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Tool use (PDF convert, Vector search, Web scrape, Google Search, etc.)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Response + Memory update + file output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83BBDA-BCF7-4058-F8C8-FA6A1305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648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04EA4-4BA5-1661-E213-3A99A480B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4A6A-3144-1927-7C01-124525D77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Live DEMO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8C3C92-B15E-22A0-96EF-26CD33B042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r>
              <a:rPr lang="en-US" dirty="0"/>
              <a:t>File Creation</a:t>
            </a:r>
          </a:p>
          <a:p>
            <a:r>
              <a:rPr lang="en-US" dirty="0"/>
              <a:t>PDF to Markdown to vector storage</a:t>
            </a:r>
          </a:p>
          <a:p>
            <a:r>
              <a:rPr lang="en-US" dirty="0"/>
              <a:t>Maybe google search and scraping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A7B04A-E427-9BC7-9277-D73D99A0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56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2F5D0-408A-32B3-550A-E8493034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1826-463C-D6EF-EBF7-5D40CCE8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EC3DFB9-C110-62DF-9324-C7F6803BC1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/>
          <a:p>
            <a:r>
              <a:rPr lang="en-US" dirty="0"/>
              <a:t>Allowing file creation anywhere within sandbox, including subdirectories</a:t>
            </a:r>
          </a:p>
          <a:p>
            <a:r>
              <a:rPr lang="en-US" dirty="0"/>
              <a:t>Describe features for better user experience</a:t>
            </a:r>
          </a:p>
          <a:p>
            <a:r>
              <a:rPr lang="en-US" dirty="0"/>
              <a:t>File-based check pointers for conversation persistence</a:t>
            </a:r>
          </a:p>
          <a:p>
            <a:r>
              <a:rPr lang="en-US" dirty="0"/>
              <a:t>Additional </a:t>
            </a:r>
            <a:r>
              <a:rPr lang="en-US" dirty="0" err="1"/>
              <a:t>LangChain</a:t>
            </a:r>
            <a:r>
              <a:rPr lang="en-US" dirty="0"/>
              <a:t> features (LCEL, custom chains)</a:t>
            </a:r>
          </a:p>
          <a:p>
            <a:r>
              <a:rPr lang="en-US" dirty="0"/>
              <a:t>Model Context Protocol (MCP) server integration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DA2943-F4B8-5DAE-5547-E57A9511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183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/>
          <a:lstStyle/>
          <a:p>
            <a:r>
              <a:rPr lang="en-US" dirty="0"/>
              <a:t>Ruben Parra Montenegro</a:t>
            </a:r>
          </a:p>
          <a:p>
            <a:r>
              <a:rPr lang="en-US" dirty="0">
                <a:hlinkClick r:id="rId2"/>
              </a:rPr>
              <a:t>parramontenegro@oakland.edu</a:t>
            </a:r>
            <a:endParaRPr lang="en-US" dirty="0"/>
          </a:p>
          <a:p>
            <a:r>
              <a:rPr lang="en-US" dirty="0">
                <a:hlinkClick r:id="rId3"/>
              </a:rPr>
              <a:t>https://github.com/Ruben-Parra-Montenegro/Albert.git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{483304EE-FAF5-4AEF-AFFA-AAF240206D7B}TFb05bf529-a1dc-42d5-b9d6-8a1e9569dd9caf6e7d0f_win32-c3c9796a48f5</Template>
  <TotalTime>21</TotalTime>
  <Words>223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Avenir Next LT Pro Light</vt:lpstr>
      <vt:lpstr>Calibri</vt:lpstr>
      <vt:lpstr>Posterama</vt:lpstr>
      <vt:lpstr>Custom</vt:lpstr>
      <vt:lpstr>Agent learning through building embedded rag tools</vt:lpstr>
      <vt:lpstr>Problem statement </vt:lpstr>
      <vt:lpstr>Solution overview</vt:lpstr>
      <vt:lpstr>Architecture</vt:lpstr>
      <vt:lpstr>Live DEMO</vt:lpstr>
      <vt:lpstr>Future Work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Parra Montenegro</dc:creator>
  <cp:lastModifiedBy>Ruben Parra Montenegro</cp:lastModifiedBy>
  <cp:revision>12</cp:revision>
  <dcterms:created xsi:type="dcterms:W3CDTF">2025-12-02T03:40:37Z</dcterms:created>
  <dcterms:modified xsi:type="dcterms:W3CDTF">2025-12-02T04:01:56Z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